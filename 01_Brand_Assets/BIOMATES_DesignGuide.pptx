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359900" cy="9359900"/>
  <p:notesSz cx="6858000" cy="9144000"/>
  <p:embeddedFontLst>
    <p:embeddedFont>
      <p:font typeface="Orbitron Black" pitchFamily="2" charset="0"/>
      <p:bold r:id="rId17"/>
    </p:embeddedFont>
    <p:embeddedFont>
      <p:font typeface="Orbitron ExtraBold" pitchFamily="2" charset="0"/>
      <p:bold r:id="rId18"/>
    </p:embeddedFont>
    <p:embeddedFont>
      <p:font typeface="Orbitron Medium" pitchFamily="2" charset="0"/>
      <p:regular r:id="rId19"/>
      <p:bold r:id="rId20"/>
    </p:embeddedFont>
    <p:embeddedFont>
      <p:font typeface="Play" pitchFamily="2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hAWCsMxxZmQ56ndpuQF2SRt2cT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A38"/>
    <a:srgbClr val="40E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20734E-7F12-4215-8A85-9E813E9B4ADB}">
  <a:tblStyle styleId="{E120734E-7F12-4215-8A85-9E813E9B4ADB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71"/>
    <p:restoredTop sz="94551"/>
  </p:normalViewPr>
  <p:slideViewPr>
    <p:cSldViewPr snapToGrid="0">
      <p:cViewPr>
        <p:scale>
          <a:sx n="63" d="100"/>
          <a:sy n="63" d="100"/>
        </p:scale>
        <p:origin x="273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DE2A47A-6289-4C24-19DB-A8620A95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1F1A0F6-1192-FEA2-974B-437A6F192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C7B1B146-6D86-0150-8B96-7FF86C9ED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06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ec9f26fe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eec9f26f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701993" y="1531818"/>
            <a:ext cx="7955915" cy="3258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Play"/>
              <a:buNone/>
              <a:defRPr sz="614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169988" y="4916115"/>
            <a:ext cx="7019925" cy="2259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457"/>
            </a:lvl1pPr>
            <a:lvl2pPr lvl="1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047"/>
            </a:lvl2pPr>
            <a:lvl3pPr lvl="2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842"/>
            </a:lvl3pPr>
            <a:lvl4pPr lvl="3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4pPr>
            <a:lvl5pPr lvl="4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5pPr>
            <a:lvl6pPr lvl="5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6pPr>
            <a:lvl7pPr lvl="6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7pPr>
            <a:lvl8pPr lvl="7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8pPr>
            <a:lvl9pPr lvl="8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643493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3100467" y="8675243"/>
            <a:ext cx="3158966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6610429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643493" y="498330"/>
            <a:ext cx="8072914" cy="180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643493" y="2491640"/>
            <a:ext cx="8072914" cy="593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643493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3100467" y="8675243"/>
            <a:ext cx="3158966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6610429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638619" y="2333478"/>
            <a:ext cx="8072914" cy="3893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Play"/>
              <a:buNone/>
              <a:defRPr sz="614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638619" y="6263769"/>
            <a:ext cx="8072914" cy="2047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rgbClr val="757575"/>
              </a:buClr>
              <a:buSzPts val="2457"/>
              <a:buNone/>
              <a:defRPr sz="2457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2047"/>
              <a:buNone/>
              <a:defRPr sz="2047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842"/>
              <a:buNone/>
              <a:defRPr sz="1842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643493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3100467" y="8675243"/>
            <a:ext cx="3158966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6610429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643493" y="498330"/>
            <a:ext cx="8072914" cy="180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643493" y="2491640"/>
            <a:ext cx="3977958" cy="593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4738449" y="2491640"/>
            <a:ext cx="3977958" cy="593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643493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3100467" y="8675243"/>
            <a:ext cx="3158966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6610429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644712" y="498330"/>
            <a:ext cx="8072914" cy="180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644713" y="2294476"/>
            <a:ext cx="3959676" cy="112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457" b="1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047" b="1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842" b="1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644713" y="3418964"/>
            <a:ext cx="3959676" cy="502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3"/>
          </p:nvPr>
        </p:nvSpPr>
        <p:spPr>
          <a:xfrm>
            <a:off x="4738450" y="2294476"/>
            <a:ext cx="3979177" cy="112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457" b="1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047" b="1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842" b="1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4"/>
          </p:nvPr>
        </p:nvSpPr>
        <p:spPr>
          <a:xfrm>
            <a:off x="4738450" y="3418964"/>
            <a:ext cx="3979177" cy="502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643493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3100467" y="8675243"/>
            <a:ext cx="3158966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6610429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643493" y="498330"/>
            <a:ext cx="8072914" cy="180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643493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3100467" y="8675243"/>
            <a:ext cx="3158966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6610429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643493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00467" y="8675243"/>
            <a:ext cx="3158966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610429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644712" y="623993"/>
            <a:ext cx="3018811" cy="218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Play"/>
              <a:buNone/>
              <a:defRPr sz="327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979177" y="1347654"/>
            <a:ext cx="4738449" cy="665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6626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3276"/>
              <a:buChar char="•"/>
              <a:defRPr sz="3276"/>
            </a:lvl1pPr>
            <a:lvl2pPr marL="914400" lvl="1" indent="-410591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866"/>
              <a:buChar char="•"/>
              <a:defRPr sz="2866"/>
            </a:lvl2pPr>
            <a:lvl3pPr marL="1371600" lvl="2" indent="-38462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457"/>
              <a:buChar char="•"/>
              <a:defRPr sz="2457"/>
            </a:lvl3pPr>
            <a:lvl4pPr marL="1828800" lvl="3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4pPr>
            <a:lvl5pPr marL="2286000" lvl="4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5pPr>
            <a:lvl6pPr marL="2743200" lvl="5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6pPr>
            <a:lvl7pPr marL="3200400" lvl="6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7pPr>
            <a:lvl8pPr marL="3657600" lvl="7" indent="-358584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8pPr>
            <a:lvl9pPr marL="4114800" lvl="8" indent="-358584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644712" y="2807970"/>
            <a:ext cx="3018811" cy="520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433"/>
              <a:buNone/>
              <a:defRPr sz="1433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228"/>
              <a:buNone/>
              <a:defRPr sz="1228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643493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00467" y="8675243"/>
            <a:ext cx="3158966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610429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644712" y="623993"/>
            <a:ext cx="3018811" cy="218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Play"/>
              <a:buNone/>
              <a:defRPr sz="327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3979177" y="1347654"/>
            <a:ext cx="4738449" cy="66515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644712" y="2807970"/>
            <a:ext cx="3018811" cy="520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433"/>
              <a:buNone/>
              <a:defRPr sz="1433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228"/>
              <a:buNone/>
              <a:defRPr sz="1228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643493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00467" y="8675243"/>
            <a:ext cx="3158966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610429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643493" y="498330"/>
            <a:ext cx="8072914" cy="180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1710565" y="1424569"/>
            <a:ext cx="5938771" cy="8072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643493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00467" y="8675243"/>
            <a:ext cx="3158966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610429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3741251" y="3455256"/>
            <a:ext cx="7932083" cy="2018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-353705" y="1495526"/>
            <a:ext cx="7932083" cy="593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643493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00467" y="8675243"/>
            <a:ext cx="3158966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610429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643493" y="498330"/>
            <a:ext cx="8072914" cy="180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4"/>
              <a:buFont typeface="Play"/>
              <a:buNone/>
              <a:defRPr sz="450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643493" y="2491640"/>
            <a:ext cx="8072914" cy="593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0591" algn="l" rtl="0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866"/>
              <a:buFont typeface="Arial"/>
              <a:buChar char="•"/>
              <a:defRPr sz="28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4620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457"/>
              <a:buFont typeface="Arial"/>
              <a:buChar char="•"/>
              <a:defRPr sz="24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8585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Font typeface="Arial"/>
              <a:buChar char="•"/>
              <a:defRPr sz="204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643493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00467" y="8675243"/>
            <a:ext cx="3158966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610429" y="8675243"/>
            <a:ext cx="2105978" cy="4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"/>
          <p:cNvCxnSpPr/>
          <p:nvPr/>
        </p:nvCxnSpPr>
        <p:spPr>
          <a:xfrm>
            <a:off x="0" y="44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5" name="Google Shape;85;p1"/>
          <p:cNvCxnSpPr/>
          <p:nvPr/>
        </p:nvCxnSpPr>
        <p:spPr>
          <a:xfrm>
            <a:off x="0" y="890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6" name="Google Shape;86;p1"/>
          <p:cNvCxnSpPr/>
          <p:nvPr/>
        </p:nvCxnSpPr>
        <p:spPr>
          <a:xfrm rot="10800000">
            <a:off x="449950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7" name="Google Shape;87;p1"/>
          <p:cNvCxnSpPr/>
          <p:nvPr/>
        </p:nvCxnSpPr>
        <p:spPr>
          <a:xfrm rot="10800000">
            <a:off x="8919176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8" name="Google Shape;88;p1"/>
          <p:cNvCxnSpPr/>
          <p:nvPr/>
        </p:nvCxnSpPr>
        <p:spPr>
          <a:xfrm>
            <a:off x="0" y="1162965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9" name="Google Shape;89;p1"/>
          <p:cNvCxnSpPr/>
          <p:nvPr/>
        </p:nvCxnSpPr>
        <p:spPr>
          <a:xfrm>
            <a:off x="0" y="1875979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90" name="Google Shape;90;p1"/>
          <p:cNvSpPr/>
          <p:nvPr/>
        </p:nvSpPr>
        <p:spPr>
          <a:xfrm>
            <a:off x="2053254" y="1183706"/>
            <a:ext cx="5262619" cy="6715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Logo-BIOMATES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3066028" y="1905584"/>
            <a:ext cx="30428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The Gathering</a:t>
            </a:r>
            <a:endParaRPr sz="2800" b="1">
              <a:solidFill>
                <a:schemeClr val="dk1"/>
              </a:solidFill>
              <a:latin typeface="Orbitron Black"/>
              <a:ea typeface="Orbitron Black"/>
              <a:cs typeface="Orbitron Black"/>
              <a:sym typeface="Orbitron Black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980145" y="2418717"/>
            <a:ext cx="14542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ECBF4"/>
                </a:solidFill>
                <a:latin typeface="Arial"/>
                <a:ea typeface="Arial"/>
                <a:cs typeface="Arial"/>
                <a:sym typeface="Arial"/>
              </a:rPr>
              <a:t>Font: Orbitron</a:t>
            </a:r>
            <a:endParaRPr sz="1600">
              <a:solidFill>
                <a:srgbClr val="5ECBF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ECBF4"/>
                </a:solidFill>
                <a:latin typeface="Arial"/>
                <a:ea typeface="Arial"/>
                <a:cs typeface="Arial"/>
                <a:sym typeface="Arial"/>
              </a:rPr>
              <a:t>Size: 28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4352581" y="625940"/>
            <a:ext cx="66396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ECBF4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4378888" y="41356"/>
            <a:ext cx="66396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ECBF4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449951" y="8400819"/>
            <a:ext cx="2924106" cy="5091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Logo_KAIST BIM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 rot="-5400000">
            <a:off x="8807556" y="4444085"/>
            <a:ext cx="66396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ECBF4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 rot="-5400000">
            <a:off x="-111620" y="4444085"/>
            <a:ext cx="66396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ECBF4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4347968" y="8955376"/>
            <a:ext cx="66396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ECBF4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1446357" y="8069142"/>
            <a:ext cx="140294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ECBF4"/>
                </a:solidFill>
                <a:latin typeface="Arial"/>
                <a:ea typeface="Arial"/>
                <a:cs typeface="Arial"/>
                <a:sym typeface="Arial"/>
              </a:rPr>
              <a:t>Height=1.7cm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1"/>
            <a:ext cx="9359898" cy="935989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8565779" y="8562928"/>
            <a:ext cx="510984" cy="564776"/>
          </a:xfrm>
          <a:prstGeom prst="rect">
            <a:avLst/>
          </a:prstGeom>
          <a:solidFill>
            <a:srgbClr val="1D29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 descr="폰트, 그래픽, 그래픽 디자인, 텍스트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5564" y="1162965"/>
            <a:ext cx="4748772" cy="71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449947" y="6872452"/>
            <a:ext cx="846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Time &amp; Date: </a:t>
            </a:r>
            <a:r>
              <a:rPr lang="en-US" sz="1800" dirty="0">
                <a:solidFill>
                  <a:schemeClr val="lt1"/>
                </a:solidFill>
              </a:rPr>
              <a:t>7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월 1</a:t>
            </a:r>
            <a:r>
              <a:rPr lang="en-US" sz="1800" dirty="0">
                <a:solidFill>
                  <a:schemeClr val="lt1"/>
                </a:solidFill>
              </a:rPr>
              <a:t>6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일 </a:t>
            </a:r>
            <a:r>
              <a:rPr lang="en-US" sz="1800" dirty="0">
                <a:solidFill>
                  <a:schemeClr val="lt1"/>
                </a:solidFill>
              </a:rPr>
              <a:t>목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요일 오후 7시-</a:t>
            </a:r>
            <a:r>
              <a:rPr lang="en-US" sz="1800" dirty="0">
                <a:solidFill>
                  <a:schemeClr val="lt1"/>
                </a:solidFill>
              </a:rPr>
              <a:t>8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시 (</a:t>
            </a:r>
            <a:r>
              <a:rPr lang="en-US" sz="1800" dirty="0">
                <a:solidFill>
                  <a:schemeClr val="lt1"/>
                </a:solidFill>
              </a:rPr>
              <a:t>세미나 후 맥주 네트워킹)</a:t>
            </a: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Venue: </a:t>
            </a:r>
            <a:r>
              <a:rPr lang="en-US" sz="1800" dirty="0">
                <a:solidFill>
                  <a:schemeClr val="lt1"/>
                </a:solidFill>
              </a:rPr>
              <a:t>동국대학교 서울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캠퍼스 XX (서울 </a:t>
            </a:r>
            <a:r>
              <a:rPr lang="en-US" sz="1800" dirty="0">
                <a:solidFill>
                  <a:schemeClr val="lt1"/>
                </a:solidFill>
              </a:rPr>
              <a:t>중구 필동로1길 30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108" name="Google Shape;108;p2"/>
          <p:cNvSpPr txBox="1"/>
          <p:nvPr/>
        </p:nvSpPr>
        <p:spPr>
          <a:xfrm>
            <a:off x="449947" y="2557564"/>
            <a:ext cx="84600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Speakers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737205" y="3082566"/>
            <a:ext cx="70485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lt1"/>
                </a:solidFill>
              </a:rPr>
              <a:t>헤드헌터가 말하는 ‘진짜 인재’의 조건</a:t>
            </a:r>
            <a:endParaRPr sz="30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336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</a:rPr>
              <a:t>김지호 대표컨설턴드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336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</a:rPr>
              <a:t>Fine Discovery</a:t>
            </a:r>
            <a:endParaRPr dirty="0"/>
          </a:p>
        </p:txBody>
      </p:sp>
      <p:sp>
        <p:nvSpPr>
          <p:cNvPr id="110" name="Google Shape;110;p2"/>
          <p:cNvSpPr txBox="1"/>
          <p:nvPr/>
        </p:nvSpPr>
        <p:spPr>
          <a:xfrm>
            <a:off x="1737205" y="5069004"/>
            <a:ext cx="69462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lt1"/>
                </a:solidFill>
              </a:rPr>
              <a:t>헬스케어 리더에게 듣는 커리어의 정석</a:t>
            </a:r>
            <a:endParaRPr sz="3000" dirty="0"/>
          </a:p>
          <a:p>
            <a:pPr marL="23336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493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</a:rPr>
              <a:t>이연재 대표</a:t>
            </a:r>
            <a:endParaRPr sz="2000" b="1" dirty="0">
              <a:solidFill>
                <a:schemeClr val="lt1"/>
              </a:solidFill>
            </a:endParaRPr>
          </a:p>
          <a:p>
            <a:pPr marL="13493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</a:rPr>
              <a:t>Recordati - Asia Head</a:t>
            </a:r>
            <a:endParaRPr dirty="0"/>
          </a:p>
        </p:txBody>
      </p:sp>
      <p:pic>
        <p:nvPicPr>
          <p:cNvPr id="111" name="Google Shape;111;p2" descr="텍스트, 폰트, 그래픽, 로고이(가) 표시된 사진&#10;&#10;AI 생성 콘텐츠는 정확하지 않을 수 있습니다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50934" y="7843548"/>
            <a:ext cx="1263424" cy="106504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2720243" y="8314927"/>
            <a:ext cx="17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Register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2" title="스크린샷 2026-06-11 오후 8.30.1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70696" y="7671663"/>
            <a:ext cx="1618500" cy="1625225"/>
          </a:xfrm>
          <a:prstGeom prst="rect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CBE2294-08C5-213E-3A86-F6B32734B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그림, 아동 미술, 스케치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5AD0CC-F6B7-C51F-40D7-5784E6065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359900" cy="93599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65BF8D-2ED1-F3DD-B5AA-199F822244C5}"/>
              </a:ext>
            </a:extLst>
          </p:cNvPr>
          <p:cNvSpPr/>
          <p:nvPr/>
        </p:nvSpPr>
        <p:spPr>
          <a:xfrm>
            <a:off x="0" y="560755"/>
            <a:ext cx="9359900" cy="8172639"/>
          </a:xfrm>
          <a:prstGeom prst="rect">
            <a:avLst/>
          </a:prstGeom>
          <a:solidFill>
            <a:schemeClr val="bg1">
              <a:alpha val="3951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Google Shape;107;p2">
            <a:extLst>
              <a:ext uri="{FF2B5EF4-FFF2-40B4-BE49-F238E27FC236}">
                <a16:creationId xmlns:a16="http://schemas.microsoft.com/office/drawing/2014/main" id="{3D263922-2E73-9914-5A24-178275321EEB}"/>
              </a:ext>
            </a:extLst>
          </p:cNvPr>
          <p:cNvSpPr txBox="1"/>
          <p:nvPr/>
        </p:nvSpPr>
        <p:spPr>
          <a:xfrm>
            <a:off x="449947" y="6779278"/>
            <a:ext cx="8460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  <a:sym typeface="Arial"/>
              </a:rPr>
              <a:t>Time &amp; Date: </a:t>
            </a:r>
            <a:r>
              <a:rPr lang="en-US" altLang="ko-KR" sz="1800" dirty="0">
                <a:solidFill>
                  <a:srgbClr val="1E2A38"/>
                </a:solidFill>
                <a:latin typeface="Aptos" panose="020B0004020202020204" pitchFamily="34" charset="0"/>
                <a:sym typeface="Arial"/>
              </a:rPr>
              <a:t>2026</a:t>
            </a:r>
            <a:r>
              <a:rPr lang="ko-KR" altLang="en-US" sz="1800" dirty="0">
                <a:solidFill>
                  <a:srgbClr val="1E2A38"/>
                </a:solidFill>
                <a:latin typeface="Aptos" panose="020B0004020202020204" pitchFamily="34" charset="0"/>
                <a:sym typeface="Arial"/>
              </a:rPr>
              <a:t>년 </a:t>
            </a: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</a:rPr>
              <a:t>7</a:t>
            </a: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  <a:sym typeface="Arial"/>
              </a:rPr>
              <a:t>월 1</a:t>
            </a: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</a:rPr>
              <a:t>6</a:t>
            </a: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  <a:sym typeface="Arial"/>
              </a:rPr>
              <a:t>일 </a:t>
            </a: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</a:rPr>
              <a:t>목</a:t>
            </a: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  <a:sym typeface="Arial"/>
              </a:rPr>
              <a:t>요일 오후 7시-</a:t>
            </a: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</a:rPr>
              <a:t>8</a:t>
            </a: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  <a:sym typeface="Arial"/>
              </a:rPr>
              <a:t>시 (</a:t>
            </a: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</a:rPr>
              <a:t>세미나 후 네트워킹)</a:t>
            </a:r>
            <a:endParaRPr sz="1800" dirty="0">
              <a:solidFill>
                <a:srgbClr val="1E2A38"/>
              </a:solidFill>
              <a:latin typeface="Aptos" panose="020B0004020202020204" pitchFamily="34" charset="0"/>
              <a:sym typeface="Arial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  <a:sym typeface="Arial"/>
              </a:rPr>
              <a:t>Venue: </a:t>
            </a: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</a:rPr>
              <a:t>동국대학교 서울</a:t>
            </a: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  <a:sym typeface="Arial"/>
              </a:rPr>
              <a:t>캠퍼스 </a:t>
            </a:r>
            <a:r>
              <a:rPr lang="ko-KR" altLang="en-US" sz="1800" dirty="0">
                <a:solidFill>
                  <a:srgbClr val="1E2A38"/>
                </a:solidFill>
                <a:latin typeface="Aptos" panose="020B0004020202020204" pitchFamily="34" charset="0"/>
              </a:rPr>
              <a:t>원흥관 </a:t>
            </a:r>
            <a:r>
              <a:rPr lang="en-US" altLang="ko-KR" sz="1800" dirty="0">
                <a:solidFill>
                  <a:srgbClr val="1E2A38"/>
                </a:solidFill>
                <a:latin typeface="Aptos" panose="020B0004020202020204" pitchFamily="34" charset="0"/>
              </a:rPr>
              <a:t>3</a:t>
            </a:r>
            <a:r>
              <a:rPr lang="ko-KR" altLang="en-US" sz="1800" dirty="0">
                <a:solidFill>
                  <a:srgbClr val="1E2A38"/>
                </a:solidFill>
                <a:latin typeface="Aptos" panose="020B0004020202020204" pitchFamily="34" charset="0"/>
              </a:rPr>
              <a:t>층 </a:t>
            </a:r>
            <a:r>
              <a:rPr lang="en" altLang="ko-KR" sz="1800" dirty="0" err="1">
                <a:solidFill>
                  <a:srgbClr val="1E2A38"/>
                </a:solidFill>
                <a:latin typeface="Aptos" panose="020B0004020202020204" pitchFamily="34" charset="0"/>
              </a:rPr>
              <a:t>i</a:t>
            </a:r>
            <a:r>
              <a:rPr lang="en-US" altLang="ko-KR" sz="1800" dirty="0">
                <a:solidFill>
                  <a:srgbClr val="1E2A38"/>
                </a:solidFill>
                <a:latin typeface="Aptos" panose="020B0004020202020204" pitchFamily="34" charset="0"/>
              </a:rPr>
              <a:t>-SPACE</a:t>
            </a:r>
            <a:r>
              <a:rPr lang="en" altLang="ko-KR" sz="1800" dirty="0">
                <a:solidFill>
                  <a:srgbClr val="1E2A38"/>
                </a:solidFill>
                <a:latin typeface="Aptos" panose="020B0004020202020204" pitchFamily="34" charset="0"/>
              </a:rPr>
              <a:t> </a:t>
            </a: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  <a:sym typeface="Arial"/>
              </a:rPr>
              <a:t> (서울 </a:t>
            </a: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</a:rPr>
              <a:t>중구 필동로1길 30</a:t>
            </a:r>
            <a:r>
              <a:rPr lang="en-US" sz="1800" dirty="0">
                <a:solidFill>
                  <a:srgbClr val="1E2A38"/>
                </a:solidFill>
                <a:latin typeface="Aptos" panose="020B0004020202020204" pitchFamily="34" charset="0"/>
                <a:sym typeface="Arial"/>
              </a:rPr>
              <a:t>)</a:t>
            </a:r>
            <a:endParaRPr sz="1800" dirty="0">
              <a:solidFill>
                <a:srgbClr val="1E2A38"/>
              </a:solidFill>
              <a:latin typeface="Aptos" panose="020B0004020202020204" pitchFamily="34" charset="0"/>
            </a:endParaRPr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EDE04247-84CD-4366-9182-CA87A05DF566}"/>
              </a:ext>
            </a:extLst>
          </p:cNvPr>
          <p:cNvSpPr txBox="1"/>
          <p:nvPr/>
        </p:nvSpPr>
        <p:spPr>
          <a:xfrm>
            <a:off x="449947" y="2606551"/>
            <a:ext cx="84600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1E2A38"/>
                </a:solidFill>
                <a:latin typeface="Orbitron Medium" pitchFamily="2" charset="0"/>
                <a:sym typeface="Arial"/>
              </a:rPr>
              <a:t>Speakers</a:t>
            </a:r>
            <a:endParaRPr dirty="0">
              <a:solidFill>
                <a:srgbClr val="1E2A38"/>
              </a:solidFill>
              <a:latin typeface="Orbitron Medium" pitchFamily="2" charset="0"/>
            </a:endParaRPr>
          </a:p>
        </p:txBody>
      </p: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91AFA6D3-A1FB-9BA4-D431-CA82C34E8854}"/>
              </a:ext>
            </a:extLst>
          </p:cNvPr>
          <p:cNvSpPr txBox="1"/>
          <p:nvPr/>
        </p:nvSpPr>
        <p:spPr>
          <a:xfrm>
            <a:off x="2080114" y="3164211"/>
            <a:ext cx="70485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5875" marR="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Orbitron Black" pitchFamily="2" charset="0"/>
              </a:rPr>
              <a:t>헤드헌터가 말하는 ‘진짜 인재’의 조건</a:t>
            </a:r>
            <a:endParaRPr sz="2400" b="1" dirty="0">
              <a:solidFill>
                <a:srgbClr val="1E2A38"/>
              </a:solidFill>
              <a:latin typeface="Orbitron Black" pitchFamily="2" charset="0"/>
            </a:endParaRPr>
          </a:p>
          <a:p>
            <a:pPr marL="15875" marR="0" lvl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1E2A38"/>
              </a:solidFill>
              <a:latin typeface="Orbitron Black" pitchFamily="2" charset="0"/>
            </a:endParaRPr>
          </a:p>
          <a:p>
            <a:pPr marL="15875" marR="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A38"/>
                </a:solidFill>
                <a:latin typeface="Orbitron Black" pitchFamily="2" charset="0"/>
              </a:rPr>
              <a:t>김지호 대표</a:t>
            </a:r>
            <a:r>
              <a:rPr lang="ko-KR" altLang="en-US" sz="2000" b="1" dirty="0">
                <a:solidFill>
                  <a:srgbClr val="1E2A38"/>
                </a:solidFill>
                <a:latin typeface="Orbitron Black" pitchFamily="2" charset="0"/>
              </a:rPr>
              <a:t> </a:t>
            </a:r>
            <a:r>
              <a:rPr lang="en-US" sz="2000" b="1" dirty="0" err="1">
                <a:solidFill>
                  <a:srgbClr val="1E2A38"/>
                </a:solidFill>
                <a:latin typeface="Orbitron Black" pitchFamily="2" charset="0"/>
              </a:rPr>
              <a:t>컨설턴</a:t>
            </a:r>
            <a:r>
              <a:rPr lang="ko-KR" altLang="en-US" sz="2000" b="1" dirty="0" err="1">
                <a:solidFill>
                  <a:srgbClr val="1E2A38"/>
                </a:solidFill>
                <a:latin typeface="Orbitron Black" pitchFamily="2" charset="0"/>
              </a:rPr>
              <a:t>트</a:t>
            </a:r>
            <a:endParaRPr sz="2000" dirty="0">
              <a:solidFill>
                <a:srgbClr val="1E2A38"/>
              </a:solidFill>
              <a:latin typeface="Orbitron Medium" pitchFamily="2" charset="0"/>
              <a:sym typeface="Arial"/>
            </a:endParaRPr>
          </a:p>
          <a:p>
            <a:pPr marL="15875" marR="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A38"/>
                </a:solidFill>
                <a:latin typeface="Orbitron Medium" pitchFamily="2" charset="0"/>
              </a:rPr>
              <a:t>Fine Discovery</a:t>
            </a:r>
            <a:endParaRPr dirty="0">
              <a:solidFill>
                <a:srgbClr val="1E2A38"/>
              </a:solidFill>
              <a:latin typeface="Orbitron Medium" pitchFamily="2" charset="0"/>
            </a:endParaRPr>
          </a:p>
        </p:txBody>
      </p:sp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28602013-7B2F-F1E5-BCF5-8842B16C0598}"/>
              </a:ext>
            </a:extLst>
          </p:cNvPr>
          <p:cNvSpPr txBox="1"/>
          <p:nvPr/>
        </p:nvSpPr>
        <p:spPr>
          <a:xfrm>
            <a:off x="2080114" y="4987359"/>
            <a:ext cx="69462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5875" marR="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1E2A38"/>
                </a:solidFill>
                <a:latin typeface="Orbitron Black" pitchFamily="2" charset="0"/>
              </a:rPr>
              <a:t>헬스케어 리더에게 듣는 성장과 커리어</a:t>
            </a:r>
            <a:endParaRPr lang="en-US" altLang="ko-KR" sz="2400" b="1" dirty="0">
              <a:solidFill>
                <a:srgbClr val="1E2A38"/>
              </a:solidFill>
              <a:latin typeface="Orbitron Black" pitchFamily="2" charset="0"/>
            </a:endParaRPr>
          </a:p>
          <a:p>
            <a:pPr marL="15875" marR="0" lvl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1E2A38"/>
              </a:solidFill>
              <a:latin typeface="Orbitron Black" pitchFamily="2" charset="0"/>
            </a:endParaRPr>
          </a:p>
          <a:p>
            <a:pPr marL="15875" marR="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A38"/>
                </a:solidFill>
                <a:latin typeface="Orbitron Black" pitchFamily="2" charset="0"/>
              </a:rPr>
              <a:t>이연재 대표</a:t>
            </a:r>
            <a:endParaRPr sz="2000" b="1" dirty="0">
              <a:solidFill>
                <a:srgbClr val="1E2A38"/>
              </a:solidFill>
              <a:latin typeface="Orbitron Black" pitchFamily="2" charset="0"/>
            </a:endParaRPr>
          </a:p>
          <a:p>
            <a:pPr marL="15875" marR="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A38"/>
                </a:solidFill>
                <a:latin typeface="Orbitron Medium" pitchFamily="2" charset="0"/>
              </a:rPr>
              <a:t>Recordati - Asia Head</a:t>
            </a:r>
            <a:endParaRPr dirty="0">
              <a:solidFill>
                <a:srgbClr val="1E2A38"/>
              </a:solidFill>
              <a:latin typeface="Orbitron Medium" pitchFamily="2" charset="0"/>
            </a:endParaRPr>
          </a:p>
        </p:txBody>
      </p:sp>
      <p:sp>
        <p:nvSpPr>
          <p:cNvPr id="5" name="Google Shape;120;g3eec9f26fe2_0_0">
            <a:extLst>
              <a:ext uri="{FF2B5EF4-FFF2-40B4-BE49-F238E27FC236}">
                <a16:creationId xmlns:a16="http://schemas.microsoft.com/office/drawing/2014/main" id="{C722711F-6D90-D676-B52F-1BA53121EDC0}"/>
              </a:ext>
            </a:extLst>
          </p:cNvPr>
          <p:cNvSpPr txBox="1"/>
          <p:nvPr/>
        </p:nvSpPr>
        <p:spPr>
          <a:xfrm>
            <a:off x="364474" y="1005475"/>
            <a:ext cx="8630946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40E0D0"/>
                </a:solidFill>
                <a:latin typeface="Orbitron Medium" pitchFamily="2" charset="0"/>
                <a:ea typeface="Orbitron Medium"/>
                <a:cs typeface="Orbitron Medium"/>
                <a:sym typeface="Orbitron Medium"/>
              </a:rPr>
              <a:t>x</a:t>
            </a:r>
            <a:r>
              <a:rPr lang="en-US" sz="4400" b="1" dirty="0">
                <a:solidFill>
                  <a:srgbClr val="40E0D0"/>
                </a:solidFill>
                <a:latin typeface="Orbitron Black" pitchFamily="2" charset="0"/>
                <a:ea typeface="Orbitron Medium"/>
                <a:cs typeface="Orbitron Medium"/>
                <a:sym typeface="Orbitron Medium"/>
              </a:rPr>
              <a:t> </a:t>
            </a:r>
            <a:r>
              <a:rPr lang="en-US" sz="4400" b="1" dirty="0">
                <a:solidFill>
                  <a:srgbClr val="40E0D0"/>
                </a:solidFill>
                <a:latin typeface="Orbitron Medium" pitchFamily="2" charset="0"/>
                <a:ea typeface="Orbitron Medium"/>
                <a:cs typeface="Orbitron Medium"/>
                <a:sym typeface="Orbitron Medium"/>
              </a:rPr>
              <a:t>Fine</a:t>
            </a:r>
            <a:r>
              <a:rPr lang="en-US" sz="4400" dirty="0">
                <a:solidFill>
                  <a:srgbClr val="40E0D0"/>
                </a:solidFill>
                <a:latin typeface="Orbitron Medium" pitchFamily="2" charset="0"/>
                <a:ea typeface="Orbitron Medium"/>
                <a:cs typeface="Orbitron Medium"/>
                <a:sym typeface="Orbitron Medium"/>
              </a:rPr>
              <a:t> Discovery</a:t>
            </a:r>
            <a:endParaRPr sz="4400" dirty="0">
              <a:solidFill>
                <a:srgbClr val="40E0D0"/>
              </a:solidFill>
              <a:latin typeface="Orbitron Medium" pitchFamily="2" charset="0"/>
              <a:ea typeface="Orbitron Medium"/>
              <a:cs typeface="Orbitron Medium"/>
              <a:sym typeface="Orbitron Medium"/>
            </a:endParaRPr>
          </a:p>
        </p:txBody>
      </p:sp>
      <p:sp>
        <p:nvSpPr>
          <p:cNvPr id="9" name="Google Shape;120;g3eec9f26fe2_0_0">
            <a:extLst>
              <a:ext uri="{FF2B5EF4-FFF2-40B4-BE49-F238E27FC236}">
                <a16:creationId xmlns:a16="http://schemas.microsoft.com/office/drawing/2014/main" id="{2A961982-06E2-BC3B-1108-92BA0CE0890B}"/>
              </a:ext>
            </a:extLst>
          </p:cNvPr>
          <p:cNvSpPr txBox="1"/>
          <p:nvPr/>
        </p:nvSpPr>
        <p:spPr>
          <a:xfrm>
            <a:off x="2333593" y="1715144"/>
            <a:ext cx="46927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E2A38"/>
                </a:solidFill>
                <a:latin typeface="Orbitron ExtraBold" pitchFamily="2" charset="0"/>
                <a:ea typeface="Orbitron Medium"/>
                <a:cs typeface="Orbitron Medium"/>
                <a:sym typeface="Orbitron Medium"/>
              </a:rPr>
              <a:t>Career Connect</a:t>
            </a:r>
            <a:endParaRPr sz="3600" b="1" dirty="0">
              <a:solidFill>
                <a:srgbClr val="1E2A38"/>
              </a:solidFill>
              <a:latin typeface="Orbitron ExtraBold" pitchFamily="2" charset="0"/>
              <a:ea typeface="Orbitron Medium"/>
              <a:cs typeface="Orbitron Medium"/>
              <a:sym typeface="Orbitron Medium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2FD7D40-5D83-BB2C-B612-72AD330DE289}"/>
              </a:ext>
            </a:extLst>
          </p:cNvPr>
          <p:cNvSpPr/>
          <p:nvPr/>
        </p:nvSpPr>
        <p:spPr>
          <a:xfrm>
            <a:off x="0" y="0"/>
            <a:ext cx="9359900" cy="620486"/>
          </a:xfrm>
          <a:prstGeom prst="rect">
            <a:avLst/>
          </a:prstGeom>
          <a:gradFill flip="none" rotWithShape="1">
            <a:gsLst>
              <a:gs pos="0">
                <a:srgbClr val="40E0D0">
                  <a:tint val="66000"/>
                  <a:satMod val="160000"/>
                </a:srgbClr>
              </a:gs>
              <a:gs pos="17000">
                <a:srgbClr val="40E0D0">
                  <a:tint val="44500"/>
                  <a:satMod val="160000"/>
                </a:srgbClr>
              </a:gs>
              <a:gs pos="7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C240119-71A9-7BAE-29D1-C47437E19596}"/>
              </a:ext>
            </a:extLst>
          </p:cNvPr>
          <p:cNvSpPr/>
          <p:nvPr/>
        </p:nvSpPr>
        <p:spPr>
          <a:xfrm flipV="1">
            <a:off x="0" y="8755743"/>
            <a:ext cx="9359900" cy="620486"/>
          </a:xfrm>
          <a:prstGeom prst="rect">
            <a:avLst/>
          </a:prstGeom>
          <a:gradFill flip="none" rotWithShape="1">
            <a:gsLst>
              <a:gs pos="0">
                <a:srgbClr val="40E0D0">
                  <a:tint val="66000"/>
                  <a:satMod val="160000"/>
                </a:srgbClr>
              </a:gs>
              <a:gs pos="17000">
                <a:srgbClr val="40E0D0">
                  <a:tint val="44500"/>
                  <a:satMod val="160000"/>
                </a:srgbClr>
              </a:gs>
              <a:gs pos="51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Google Shape;112;p2">
            <a:extLst>
              <a:ext uri="{FF2B5EF4-FFF2-40B4-BE49-F238E27FC236}">
                <a16:creationId xmlns:a16="http://schemas.microsoft.com/office/drawing/2014/main" id="{1384937A-DEA6-0DA2-1A79-F3BB7E85B4B7}"/>
              </a:ext>
            </a:extLst>
          </p:cNvPr>
          <p:cNvSpPr txBox="1"/>
          <p:nvPr/>
        </p:nvSpPr>
        <p:spPr>
          <a:xfrm>
            <a:off x="5442292" y="8784407"/>
            <a:ext cx="17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00" dirty="0">
                <a:solidFill>
                  <a:srgbClr val="1E2A38"/>
                </a:solidFill>
                <a:latin typeface="Orbitron Medium" pitchFamily="2" charset="0"/>
                <a:sym typeface="Arial"/>
              </a:rPr>
              <a:t>&lt;&lt;</a:t>
            </a:r>
            <a:r>
              <a:rPr lang="ko-KR" altLang="en-US" sz="1600" dirty="0">
                <a:solidFill>
                  <a:srgbClr val="1E2A38"/>
                </a:solidFill>
                <a:latin typeface="Orbitron Medium" pitchFamily="2" charset="0"/>
                <a:sym typeface="Arial"/>
              </a:rPr>
              <a:t> </a:t>
            </a:r>
            <a:r>
              <a:rPr lang="en-US" sz="1600" dirty="0">
                <a:solidFill>
                  <a:srgbClr val="1E2A38"/>
                </a:solidFill>
                <a:latin typeface="Orbitron Medium" pitchFamily="2" charset="0"/>
                <a:sym typeface="Arial"/>
              </a:rPr>
              <a:t>Register</a:t>
            </a:r>
            <a:endParaRPr sz="1200" dirty="0">
              <a:solidFill>
                <a:srgbClr val="1E2A38"/>
              </a:solidFill>
              <a:latin typeface="Orbitron Medium" pitchFamily="2" charset="0"/>
              <a:sym typeface="Arial"/>
            </a:endParaRPr>
          </a:p>
        </p:txBody>
      </p:sp>
      <p:pic>
        <p:nvPicPr>
          <p:cNvPr id="10" name="Google Shape;113;p2" title="스크린샷 2026-06-11 오후 8.30.16.png">
            <a:extLst>
              <a:ext uri="{FF2B5EF4-FFF2-40B4-BE49-F238E27FC236}">
                <a16:creationId xmlns:a16="http://schemas.microsoft.com/office/drawing/2014/main" id="{F9795738-F089-EA2B-B588-B16EF4BFE2B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2818" y="7843548"/>
            <a:ext cx="1274264" cy="127955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" name="그림 15" descr="폰트, 그래픽, 그래픽 디자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393F45-7D12-4AC6-73BE-9DDB6376D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74" y="8327980"/>
            <a:ext cx="2264351" cy="308441"/>
          </a:xfrm>
          <a:prstGeom prst="rect">
            <a:avLst/>
          </a:prstGeom>
        </p:spPr>
      </p:pic>
      <p:pic>
        <p:nvPicPr>
          <p:cNvPr id="19" name="Google Shape;167;p5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A74CF2-5DAD-7573-8A7F-009C56DAA8B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30712" y="7892521"/>
            <a:ext cx="1364708" cy="1150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그림 29" descr="의류, 인간의 얼굴, 미소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AB288A-65AE-AA9C-5E09-DF504CC6FAE6}"/>
              </a:ext>
            </a:extLst>
          </p:cNvPr>
          <p:cNvPicPr>
            <a:picLocks/>
          </p:cNvPicPr>
          <p:nvPr/>
        </p:nvPicPr>
        <p:blipFill>
          <a:blip r:embed="rId7"/>
          <a:srcRect t="21443" r="50000" b="28074"/>
          <a:stretch>
            <a:fillRect/>
          </a:stretch>
        </p:blipFill>
        <p:spPr>
          <a:xfrm>
            <a:off x="568114" y="3167950"/>
            <a:ext cx="1512000" cy="1512000"/>
          </a:xfrm>
          <a:prstGeom prst="ellipse">
            <a:avLst/>
          </a:prstGeom>
        </p:spPr>
      </p:pic>
      <p:pic>
        <p:nvPicPr>
          <p:cNvPr id="31" name="그림 30" descr="의류, 인간의 얼굴, 미소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FFE327-B285-3EDE-0DB4-445BDACD7E10}"/>
              </a:ext>
            </a:extLst>
          </p:cNvPr>
          <p:cNvPicPr>
            <a:picLocks/>
          </p:cNvPicPr>
          <p:nvPr/>
        </p:nvPicPr>
        <p:blipFill>
          <a:blip r:embed="rId7"/>
          <a:srcRect l="50107" t="21563" r="-107" b="27954"/>
          <a:stretch>
            <a:fillRect/>
          </a:stretch>
        </p:blipFill>
        <p:spPr>
          <a:xfrm>
            <a:off x="568114" y="5074938"/>
            <a:ext cx="1512000" cy="1512000"/>
          </a:xfrm>
          <a:prstGeom prst="ellipse">
            <a:avLst/>
          </a:prstGeom>
        </p:spPr>
      </p:pic>
      <p:pic>
        <p:nvPicPr>
          <p:cNvPr id="32" name="Google Shape;121;g3eec9f26fe2_0_0" descr="폰트, 그래픽, 그래픽 디자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2AC7EF-DCD5-19B8-74CD-B68BEF5C3A4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4474" y="1156830"/>
            <a:ext cx="3091302" cy="464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789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eec9f26fe2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1"/>
            <a:ext cx="9359898" cy="935989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eec9f26fe2_0_0"/>
          <p:cNvSpPr/>
          <p:nvPr/>
        </p:nvSpPr>
        <p:spPr>
          <a:xfrm>
            <a:off x="8565779" y="8562928"/>
            <a:ext cx="510900" cy="564900"/>
          </a:xfrm>
          <a:prstGeom prst="rect">
            <a:avLst/>
          </a:prstGeom>
          <a:solidFill>
            <a:srgbClr val="1D29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eec9f26fe2_0_0"/>
          <p:cNvSpPr txBox="1"/>
          <p:nvPr/>
        </p:nvSpPr>
        <p:spPr>
          <a:xfrm>
            <a:off x="3168955" y="1875979"/>
            <a:ext cx="3021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Orbitron Medium"/>
                <a:ea typeface="Orbitron Medium"/>
                <a:cs typeface="Orbitron Medium"/>
                <a:sym typeface="Orbitron Medium"/>
              </a:rPr>
              <a:t>The Gathering</a:t>
            </a:r>
            <a:endParaRPr sz="2800" dirty="0">
              <a:solidFill>
                <a:schemeClr val="lt1"/>
              </a:solidFill>
              <a:latin typeface="Orbitron Medium"/>
              <a:ea typeface="Orbitron Medium"/>
              <a:cs typeface="Orbitron Medium"/>
              <a:sym typeface="Orbitron Medium"/>
            </a:endParaRPr>
          </a:p>
        </p:txBody>
      </p:sp>
      <p:pic>
        <p:nvPicPr>
          <p:cNvPr id="121" name="Google Shape;121;g3eec9f26fe2_0_0" descr="폰트, 그래픽, 그래픽 디자인, 텍스트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5564" y="1162965"/>
            <a:ext cx="4748774" cy="713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eec9f26fe2_0_0" descr="텍스트, 폰트, 스크린샷, 그래픽이(가) 표시된 사진&#10;&#10;AI 생성 콘텐츠는 정확하지 않을 수 있습니다."/>
          <p:cNvPicPr preferRelativeResize="0"/>
          <p:nvPr/>
        </p:nvPicPr>
        <p:blipFill rotWithShape="1">
          <a:blip r:embed="rId5">
            <a:alphaModFix/>
          </a:blip>
          <a:srcRect l="7344" t="22342" r="7156" b="23378"/>
          <a:stretch/>
        </p:blipFill>
        <p:spPr>
          <a:xfrm>
            <a:off x="449950" y="8293134"/>
            <a:ext cx="1941558" cy="61546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eec9f26fe2_0_0"/>
          <p:cNvSpPr txBox="1"/>
          <p:nvPr/>
        </p:nvSpPr>
        <p:spPr>
          <a:xfrm>
            <a:off x="449947" y="6872452"/>
            <a:ext cx="846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Time &amp; Date: 4월 10일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금요일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오후 7시-9시</a:t>
            </a: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Venue: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한국과학기술원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도곡캠퍼스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(서울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강남구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논현로28길 25 ICU </a:t>
            </a: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미디어연구센터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pic>
        <p:nvPicPr>
          <p:cNvPr id="124" name="Google Shape;124;g3eec9f26fe2_0_0" descr="인간의 얼굴, 의류, 미소, 사람이(가) 표시된 사진&#10;&#10;자동 생성된 설명"/>
          <p:cNvPicPr preferRelativeResize="0"/>
          <p:nvPr/>
        </p:nvPicPr>
        <p:blipFill rotWithShape="1">
          <a:blip r:embed="rId6">
            <a:alphaModFix/>
          </a:blip>
          <a:srcRect l="7529" t="6688" r="6627" b="6462"/>
          <a:stretch/>
        </p:blipFill>
        <p:spPr>
          <a:xfrm>
            <a:off x="449947" y="3179620"/>
            <a:ext cx="1221600" cy="1221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25" name="Google Shape;125;g3eec9f26fe2_0_0" descr="인간의 얼굴, 의류, 사람, 미소이(가) 표시된 사진&#10;&#10;자동 생성된 설명"/>
          <p:cNvPicPr preferRelativeResize="0"/>
          <p:nvPr/>
        </p:nvPicPr>
        <p:blipFill rotWithShape="1">
          <a:blip r:embed="rId7">
            <a:alphaModFix/>
          </a:blip>
          <a:srcRect l="7848" t="6467" r="8484" b="6371"/>
          <a:stretch/>
        </p:blipFill>
        <p:spPr>
          <a:xfrm>
            <a:off x="449949" y="5175636"/>
            <a:ext cx="1221600" cy="1221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6" name="Google Shape;126;g3eec9f26fe2_0_0"/>
          <p:cNvSpPr txBox="1"/>
          <p:nvPr/>
        </p:nvSpPr>
        <p:spPr>
          <a:xfrm>
            <a:off x="449947" y="2557564"/>
            <a:ext cx="846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Speakers</a:t>
            </a:r>
            <a:endParaRPr/>
          </a:p>
        </p:txBody>
      </p:sp>
      <p:sp>
        <p:nvSpPr>
          <p:cNvPr id="127" name="Google Shape;127;g3eec9f26fe2_0_0"/>
          <p:cNvSpPr txBox="1"/>
          <p:nvPr/>
        </p:nvSpPr>
        <p:spPr>
          <a:xfrm>
            <a:off x="1737205" y="3082566"/>
            <a:ext cx="70485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Sharing Global IVD company experience in Korea: “From Phase-in to Phase-out” for IVD Products”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336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Jully Kim / 김형주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336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Roche Diagnostics APAC, APAC subchapter lead of Innovation &amp; partnering</a:t>
            </a:r>
            <a:endParaRPr/>
          </a:p>
        </p:txBody>
      </p:sp>
      <p:sp>
        <p:nvSpPr>
          <p:cNvPr id="128" name="Google Shape;128;g3eec9f26fe2_0_0"/>
          <p:cNvSpPr txBox="1"/>
          <p:nvPr/>
        </p:nvSpPr>
        <p:spPr>
          <a:xfrm>
            <a:off x="1839420" y="5069004"/>
            <a:ext cx="69462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R&amp;D Illusion and the Commercial Reality”</a:t>
            </a:r>
            <a:endParaRPr/>
          </a:p>
          <a:p>
            <a:pPr marL="23336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Subtitle: Well-Made vs. Well-Selling</a:t>
            </a:r>
            <a:endParaRPr/>
          </a:p>
          <a:p>
            <a:pPr marL="23336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493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Tommy Kim / 김주현</a:t>
            </a:r>
            <a:endParaRPr/>
          </a:p>
          <a:p>
            <a:pPr marL="13493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Ex. BD (Becton Dickinson) Korea, SM Business Director</a:t>
            </a:r>
            <a:endParaRPr/>
          </a:p>
        </p:txBody>
      </p:sp>
      <p:pic>
        <p:nvPicPr>
          <p:cNvPr id="129" name="Google Shape;129;g3eec9f26fe2_0_0" descr="텍스트, 폰트, 그래픽, 로고이(가) 표시된 사진&#10;&#10;AI 생성 콘텐츠는 정확하지 않을 수 있습니다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50934" y="7843548"/>
            <a:ext cx="1263422" cy="1065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eec9f26fe2_0_0" descr="QR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77841" y="7937236"/>
            <a:ext cx="1004207" cy="100420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eec9f26fe2_0_0"/>
          <p:cNvSpPr txBox="1"/>
          <p:nvPr/>
        </p:nvSpPr>
        <p:spPr>
          <a:xfrm>
            <a:off x="5110860" y="8602889"/>
            <a:ext cx="17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&gt; Register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1"/>
            <a:ext cx="9359897" cy="935989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/>
          <p:nvPr/>
        </p:nvSpPr>
        <p:spPr>
          <a:xfrm>
            <a:off x="8565779" y="8562928"/>
            <a:ext cx="510984" cy="564776"/>
          </a:xfrm>
          <a:prstGeom prst="rect">
            <a:avLst/>
          </a:prstGeom>
          <a:solidFill>
            <a:srgbClr val="1D29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7793541" y="7828593"/>
            <a:ext cx="1080000" cy="108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QR</a:t>
            </a:r>
            <a:endParaRPr/>
          </a:p>
        </p:txBody>
      </p:sp>
      <p:pic>
        <p:nvPicPr>
          <p:cNvPr id="139" name="Google Shape;139;p3" descr="텍스트, 폰트, 스크린샷, 그래픽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 l="9996" t="23263" r="10073" b="24413"/>
          <a:stretch/>
        </p:blipFill>
        <p:spPr>
          <a:xfrm>
            <a:off x="486359" y="8396237"/>
            <a:ext cx="1652187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 txBox="1"/>
          <p:nvPr/>
        </p:nvSpPr>
        <p:spPr>
          <a:xfrm>
            <a:off x="3384559" y="1132059"/>
            <a:ext cx="259077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Gathering</a:t>
            </a:r>
            <a:endParaRPr sz="2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3"/>
          <p:cNvCxnSpPr/>
          <p:nvPr/>
        </p:nvCxnSpPr>
        <p:spPr>
          <a:xfrm>
            <a:off x="0" y="890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2" name="Google Shape;142;p3"/>
          <p:cNvCxnSpPr/>
          <p:nvPr/>
        </p:nvCxnSpPr>
        <p:spPr>
          <a:xfrm rot="10800000">
            <a:off x="449950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" name="Google Shape;147;p4"/>
          <p:cNvGraphicFramePr/>
          <p:nvPr/>
        </p:nvGraphicFramePr>
        <p:xfrm>
          <a:off x="882559" y="1793011"/>
          <a:ext cx="7594775" cy="5433125"/>
        </p:xfrm>
        <a:graphic>
          <a:graphicData uri="http://schemas.openxmlformats.org/drawingml/2006/table">
            <a:tbl>
              <a:tblPr firstRow="1" bandRow="1">
                <a:noFill/>
                <a:tableStyleId>{E120734E-7F12-4215-8A85-9E813E9B4ADB}</a:tableStyleId>
              </a:tblPr>
              <a:tblGrid>
                <a:gridCol w="41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6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42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White (#FFFFFF)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6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42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chemeClr val="dk1"/>
                          </a:solidFill>
                        </a:rPr>
                        <a:t>Turquoise (#40E0D0)</a:t>
                      </a:r>
                      <a:endParaRPr sz="2400" b="1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6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42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/>
                        <a:t>Deep Navy (#1E2A38)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6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42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/>
                        <a:t>Black (#111111)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6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42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dirty="0"/>
                        <a:t>Coral Red (#FF6B6B)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48" name="Google Shape;148;p4"/>
          <p:cNvCxnSpPr/>
          <p:nvPr/>
        </p:nvCxnSpPr>
        <p:spPr>
          <a:xfrm>
            <a:off x="0" y="44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4"/>
          <p:cNvCxnSpPr/>
          <p:nvPr/>
        </p:nvCxnSpPr>
        <p:spPr>
          <a:xfrm>
            <a:off x="0" y="890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4"/>
          <p:cNvCxnSpPr/>
          <p:nvPr/>
        </p:nvCxnSpPr>
        <p:spPr>
          <a:xfrm rot="10800000">
            <a:off x="449950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51" name="Google Shape;151;p4"/>
          <p:cNvCxnSpPr/>
          <p:nvPr/>
        </p:nvCxnSpPr>
        <p:spPr>
          <a:xfrm rot="10800000">
            <a:off x="8919176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52" name="Google Shape;152;p4"/>
          <p:cNvCxnSpPr/>
          <p:nvPr/>
        </p:nvCxnSpPr>
        <p:spPr>
          <a:xfrm>
            <a:off x="0" y="1121481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53" name="Google Shape;153;p4" descr="폰트, 그래픽, 그래픽 디자인, 텍스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2289" y="3219439"/>
            <a:ext cx="3116945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" descr="폰트, 그래픽, 그래픽 디자인, 텍스트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72289" y="6443474"/>
            <a:ext cx="3116945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4" descr="폰트, 그래픽, 스크린샷, 그래픽 디자인이(가) 표시된 사진&#10;&#10;AI 생성 콘텐츠는 정확하지 않을 수 있습니다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2289" y="4294117"/>
            <a:ext cx="3116945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4" descr="폰트, 그래픽, 그래픽 디자인, 화이트이(가) 표시된 사진&#10;&#10;AI 생성 콘텐츠는 정확하지 않을 수 있습니다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2289" y="2144760"/>
            <a:ext cx="3116945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4" descr="폰트, 스크린샷, 블랙, 그래픽이(가) 표시된 사진&#10;&#10;AI 생성 콘텐츠는 정확하지 않을 수 있습니다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289" y="5368795"/>
            <a:ext cx="3116945" cy="4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5"/>
          <p:cNvCxnSpPr/>
          <p:nvPr/>
        </p:nvCxnSpPr>
        <p:spPr>
          <a:xfrm>
            <a:off x="0" y="44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63" name="Google Shape;163;p5"/>
          <p:cNvCxnSpPr/>
          <p:nvPr/>
        </p:nvCxnSpPr>
        <p:spPr>
          <a:xfrm>
            <a:off x="0" y="890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64" name="Google Shape;164;p5"/>
          <p:cNvCxnSpPr/>
          <p:nvPr/>
        </p:nvCxnSpPr>
        <p:spPr>
          <a:xfrm rot="10800000">
            <a:off x="449950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65" name="Google Shape;165;p5"/>
          <p:cNvCxnSpPr/>
          <p:nvPr/>
        </p:nvCxnSpPr>
        <p:spPr>
          <a:xfrm rot="10800000">
            <a:off x="8919176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66" name="Google Shape;166;p5"/>
          <p:cNvCxnSpPr/>
          <p:nvPr/>
        </p:nvCxnSpPr>
        <p:spPr>
          <a:xfrm>
            <a:off x="0" y="1121481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67" name="Google Shape;167;p5" descr="폰트, 그래픽, 로고, 스크린샷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2120" y="2115505"/>
            <a:ext cx="6595659" cy="5560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6"/>
          <p:cNvCxnSpPr/>
          <p:nvPr/>
        </p:nvCxnSpPr>
        <p:spPr>
          <a:xfrm>
            <a:off x="0" y="44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73" name="Google Shape;173;p6"/>
          <p:cNvCxnSpPr/>
          <p:nvPr/>
        </p:nvCxnSpPr>
        <p:spPr>
          <a:xfrm>
            <a:off x="0" y="890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74" name="Google Shape;174;p6"/>
          <p:cNvCxnSpPr/>
          <p:nvPr/>
        </p:nvCxnSpPr>
        <p:spPr>
          <a:xfrm rot="10800000">
            <a:off x="449950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75" name="Google Shape;175;p6"/>
          <p:cNvCxnSpPr/>
          <p:nvPr/>
        </p:nvCxnSpPr>
        <p:spPr>
          <a:xfrm rot="10800000">
            <a:off x="8919176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76" name="Google Shape;176;p6"/>
          <p:cNvCxnSpPr/>
          <p:nvPr/>
        </p:nvCxnSpPr>
        <p:spPr>
          <a:xfrm>
            <a:off x="0" y="1121481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77" name="Google Shape;177;p6" descr="텍스트, 폰트, 그래픽, 로고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9593" y="2073067"/>
            <a:ext cx="6380714" cy="5378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p7"/>
          <p:cNvCxnSpPr/>
          <p:nvPr/>
        </p:nvCxnSpPr>
        <p:spPr>
          <a:xfrm>
            <a:off x="0" y="44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83" name="Google Shape;183;p7"/>
          <p:cNvCxnSpPr/>
          <p:nvPr/>
        </p:nvCxnSpPr>
        <p:spPr>
          <a:xfrm>
            <a:off x="0" y="890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84" name="Google Shape;184;p7"/>
          <p:cNvCxnSpPr/>
          <p:nvPr/>
        </p:nvCxnSpPr>
        <p:spPr>
          <a:xfrm rot="10800000">
            <a:off x="449950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85" name="Google Shape;185;p7"/>
          <p:cNvCxnSpPr/>
          <p:nvPr/>
        </p:nvCxnSpPr>
        <p:spPr>
          <a:xfrm rot="10800000">
            <a:off x="8919176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86" name="Google Shape;186;p7"/>
          <p:cNvCxnSpPr/>
          <p:nvPr/>
        </p:nvCxnSpPr>
        <p:spPr>
          <a:xfrm>
            <a:off x="0" y="1121481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87" name="Google Shape;187;p7" descr="폰트, 그래픽, 그래픽 디자인, 타이포그래피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50" y="7239651"/>
            <a:ext cx="7772400" cy="575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7" descr="스크린샷, 폰트, 블랙, 그래픽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50" y="5959802"/>
            <a:ext cx="7772400" cy="575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7" descr="그래픽, 스크린샷, 폰트, 그래픽 디자인이(가) 표시된 사진&#10;&#10;AI 생성 콘텐츠는 정확하지 않을 수 있습니다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3750" y="3400100"/>
            <a:ext cx="7772400" cy="575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3750" y="4679951"/>
            <a:ext cx="7772400" cy="575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7" descr="폰트, 그래픽, 타이포그래피, 디자인이(가) 표시된 사진&#10;&#10;AI 생성 콘텐츠는 정확하지 않을 수 있습니다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3750" y="2120249"/>
            <a:ext cx="7772400" cy="575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196;p8"/>
          <p:cNvCxnSpPr/>
          <p:nvPr/>
        </p:nvCxnSpPr>
        <p:spPr>
          <a:xfrm>
            <a:off x="0" y="44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97" name="Google Shape;197;p8"/>
          <p:cNvCxnSpPr/>
          <p:nvPr/>
        </p:nvCxnSpPr>
        <p:spPr>
          <a:xfrm>
            <a:off x="0" y="890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98" name="Google Shape;198;p8"/>
          <p:cNvCxnSpPr/>
          <p:nvPr/>
        </p:nvCxnSpPr>
        <p:spPr>
          <a:xfrm rot="10800000">
            <a:off x="449950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99" name="Google Shape;199;p8"/>
          <p:cNvCxnSpPr/>
          <p:nvPr/>
        </p:nvCxnSpPr>
        <p:spPr>
          <a:xfrm rot="10800000">
            <a:off x="8919176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00" name="Google Shape;200;p8"/>
          <p:cNvCxnSpPr/>
          <p:nvPr/>
        </p:nvCxnSpPr>
        <p:spPr>
          <a:xfrm>
            <a:off x="0" y="1121481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201" name="Google Shape;201;p8" descr="그래픽, 폰트, 상징, 로고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4564" y="1730828"/>
            <a:ext cx="5270772" cy="5898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9"/>
          <p:cNvCxnSpPr/>
          <p:nvPr/>
        </p:nvCxnSpPr>
        <p:spPr>
          <a:xfrm>
            <a:off x="0" y="44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07" name="Google Shape;207;p9"/>
          <p:cNvCxnSpPr/>
          <p:nvPr/>
        </p:nvCxnSpPr>
        <p:spPr>
          <a:xfrm>
            <a:off x="0" y="890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08" name="Google Shape;208;p9"/>
          <p:cNvCxnSpPr/>
          <p:nvPr/>
        </p:nvCxnSpPr>
        <p:spPr>
          <a:xfrm rot="10800000">
            <a:off x="449950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09" name="Google Shape;209;p9"/>
          <p:cNvCxnSpPr/>
          <p:nvPr/>
        </p:nvCxnSpPr>
        <p:spPr>
          <a:xfrm rot="10800000">
            <a:off x="8919176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10" name="Google Shape;210;p9"/>
          <p:cNvCxnSpPr/>
          <p:nvPr/>
        </p:nvCxnSpPr>
        <p:spPr>
          <a:xfrm>
            <a:off x="0" y="1121481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211" name="Google Shape;211;p9" descr="텍스트, 폰트, 스크린샷, 그래픽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363" y="1745811"/>
            <a:ext cx="7772400" cy="3880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9" descr="폰트, 텍스트, 그래픽, 로고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50" y="6069460"/>
            <a:ext cx="7772400" cy="1940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10"/>
          <p:cNvCxnSpPr/>
          <p:nvPr/>
        </p:nvCxnSpPr>
        <p:spPr>
          <a:xfrm>
            <a:off x="0" y="44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18" name="Google Shape;218;p10"/>
          <p:cNvCxnSpPr/>
          <p:nvPr/>
        </p:nvCxnSpPr>
        <p:spPr>
          <a:xfrm>
            <a:off x="0" y="890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19" name="Google Shape;219;p10"/>
          <p:cNvCxnSpPr/>
          <p:nvPr/>
        </p:nvCxnSpPr>
        <p:spPr>
          <a:xfrm rot="10800000">
            <a:off x="449950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20" name="Google Shape;220;p10"/>
          <p:cNvCxnSpPr/>
          <p:nvPr/>
        </p:nvCxnSpPr>
        <p:spPr>
          <a:xfrm rot="10800000">
            <a:off x="8919176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21" name="Google Shape;221;p10"/>
          <p:cNvCxnSpPr/>
          <p:nvPr/>
        </p:nvCxnSpPr>
        <p:spPr>
          <a:xfrm>
            <a:off x="0" y="1121481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222" name="Google Shape;222;p10" descr="텍스트, 폰트, 화이트, 로고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363" y="1403350"/>
            <a:ext cx="7772400" cy="3880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0" descr="폰트, 텍스트, 그래픽, 로고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8363" y="6224387"/>
            <a:ext cx="7772400" cy="1940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Google Shape;228;p11"/>
          <p:cNvCxnSpPr/>
          <p:nvPr/>
        </p:nvCxnSpPr>
        <p:spPr>
          <a:xfrm>
            <a:off x="0" y="44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29" name="Google Shape;229;p11"/>
          <p:cNvCxnSpPr/>
          <p:nvPr/>
        </p:nvCxnSpPr>
        <p:spPr>
          <a:xfrm>
            <a:off x="0" y="8909950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30" name="Google Shape;230;p11"/>
          <p:cNvCxnSpPr/>
          <p:nvPr/>
        </p:nvCxnSpPr>
        <p:spPr>
          <a:xfrm rot="10800000">
            <a:off x="449950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31" name="Google Shape;231;p11"/>
          <p:cNvCxnSpPr/>
          <p:nvPr/>
        </p:nvCxnSpPr>
        <p:spPr>
          <a:xfrm rot="10800000">
            <a:off x="8919176" y="0"/>
            <a:ext cx="0" cy="93599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32" name="Google Shape;232;p11"/>
          <p:cNvCxnSpPr/>
          <p:nvPr/>
        </p:nvCxnSpPr>
        <p:spPr>
          <a:xfrm>
            <a:off x="0" y="1121481"/>
            <a:ext cx="93599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233" name="Google Shape;233;p11" descr="텍스트, 폰트, 로고, 스크린샷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50" y="1600933"/>
            <a:ext cx="7772400" cy="3880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1" descr="텍스트, 폰트, 로고, 그래픽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50" y="6153182"/>
            <a:ext cx="7772400" cy="1940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2" descr="폰트, 그래픽, 로고, 스크린샷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2120" y="2115505"/>
            <a:ext cx="6595659" cy="5560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95550" y="2311400"/>
            <a:ext cx="4368800" cy="47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2517</TotalTime>
  <Words>279</Words>
  <Application>Microsoft Macintosh PowerPoint</Application>
  <PresentationFormat>사용자 지정</PresentationFormat>
  <Paragraphs>59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Arial</vt:lpstr>
      <vt:lpstr>Orbitron Medium</vt:lpstr>
      <vt:lpstr>Orbitron Black</vt:lpstr>
      <vt:lpstr>Aptos</vt:lpstr>
      <vt:lpstr>Play</vt:lpstr>
      <vt:lpstr>Orbitron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Jisu Ryu (유지수)</dc:creator>
  <cp:lastModifiedBy>Jisu Ryu (유지수)</cp:lastModifiedBy>
  <cp:revision>4</cp:revision>
  <dcterms:created xsi:type="dcterms:W3CDTF">2026-03-10T08:04:09Z</dcterms:created>
  <dcterms:modified xsi:type="dcterms:W3CDTF">2026-06-15T04:31:25Z</dcterms:modified>
</cp:coreProperties>
</file>